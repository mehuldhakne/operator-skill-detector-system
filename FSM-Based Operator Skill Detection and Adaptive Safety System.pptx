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 Bold" charset="1" panose="020B0800040000020004"/>
      <p:regular r:id="rId19"/>
    </p:embeddedFont>
    <p:embeddedFont>
      <p:font typeface="Lato Bold" charset="1" panose="020F0502020204030203"/>
      <p:regular r:id="rId20"/>
    </p:embeddedFont>
    <p:embeddedFont>
      <p:font typeface="Lato" charset="1" panose="020F050202020403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7934" y="2636275"/>
            <a:ext cx="14825033" cy="395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80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FSM-Bas</a:t>
            </a:r>
            <a:r>
              <a:rPr lang="en-US" b="true" sz="8000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ed Operator Skill Detection </a:t>
            </a:r>
          </a:p>
          <a:p>
            <a:pPr algn="ctr">
              <a:lnSpc>
                <a:spcPts val="9520"/>
              </a:lnSpc>
            </a:pPr>
            <a:r>
              <a:rPr lang="en-US" b="true" sz="8000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and Adaptive Safety System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55380" y="8339849"/>
            <a:ext cx="2368161" cy="2423613"/>
          </a:xfrm>
          <a:custGeom>
            <a:avLst/>
            <a:gdLst/>
            <a:ahLst/>
            <a:cxnLst/>
            <a:rect r="r" b="b" t="t" l="l"/>
            <a:pathLst>
              <a:path h="2423613" w="2368161">
                <a:moveTo>
                  <a:pt x="0" y="0"/>
                </a:moveTo>
                <a:lnTo>
                  <a:pt x="2368160" y="0"/>
                </a:lnTo>
                <a:lnTo>
                  <a:pt x="2368160" y="2423613"/>
                </a:lnTo>
                <a:lnTo>
                  <a:pt x="0" y="2423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77474" y="452062"/>
            <a:ext cx="2965953" cy="2033026"/>
          </a:xfrm>
          <a:custGeom>
            <a:avLst/>
            <a:gdLst/>
            <a:ahLst/>
            <a:cxnLst/>
            <a:rect r="r" b="b" t="t" l="l"/>
            <a:pathLst>
              <a:path h="2033026" w="2965953">
                <a:moveTo>
                  <a:pt x="0" y="0"/>
                </a:moveTo>
                <a:lnTo>
                  <a:pt x="2965953" y="0"/>
                </a:lnTo>
                <a:lnTo>
                  <a:pt x="2965953" y="2033025"/>
                </a:lnTo>
                <a:lnTo>
                  <a:pt x="0" y="203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6443149" y="-183107"/>
            <a:ext cx="2368161" cy="2423613"/>
          </a:xfrm>
          <a:custGeom>
            <a:avLst/>
            <a:gdLst/>
            <a:ahLst/>
            <a:cxnLst/>
            <a:rect r="r" b="b" t="t" l="l"/>
            <a:pathLst>
              <a:path h="2423613" w="2368161">
                <a:moveTo>
                  <a:pt x="0" y="0"/>
                </a:moveTo>
                <a:lnTo>
                  <a:pt x="2368160" y="0"/>
                </a:lnTo>
                <a:lnTo>
                  <a:pt x="2368160" y="2423614"/>
                </a:lnTo>
                <a:lnTo>
                  <a:pt x="0" y="2423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83031" y="7497536"/>
            <a:ext cx="7921938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 b="true">
                <a:solidFill>
                  <a:srgbClr val="272727"/>
                </a:solidFill>
                <a:latin typeface="Lato Bold"/>
                <a:ea typeface="Lato Bold"/>
                <a:cs typeface="Lato Bold"/>
                <a:sym typeface="Lato Bold"/>
              </a:rPr>
              <a:t>Presented by: Mehul J Dhakne</a:t>
            </a:r>
          </a:p>
          <a:p>
            <a:pPr algn="ctr">
              <a:lnSpc>
                <a:spcPts val="4500"/>
              </a:lnSpc>
            </a:pPr>
            <a:r>
              <a:rPr lang="en-US" sz="3000" b="true">
                <a:solidFill>
                  <a:srgbClr val="272727"/>
                </a:solidFill>
                <a:latin typeface="Lato Bold"/>
                <a:ea typeface="Lato Bold"/>
                <a:cs typeface="Lato Bold"/>
                <a:sym typeface="Lato Bold"/>
              </a:rPr>
              <a:t>Department: Electronics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4241" y="8765266"/>
            <a:ext cx="2134484" cy="2184465"/>
          </a:xfrm>
          <a:custGeom>
            <a:avLst/>
            <a:gdLst/>
            <a:ahLst/>
            <a:cxnLst/>
            <a:rect r="r" b="b" t="t" l="l"/>
            <a:pathLst>
              <a:path h="2184465" w="2134484">
                <a:moveTo>
                  <a:pt x="0" y="0"/>
                </a:moveTo>
                <a:lnTo>
                  <a:pt x="2134484" y="0"/>
                </a:lnTo>
                <a:lnTo>
                  <a:pt x="2134484" y="2184465"/>
                </a:lnTo>
                <a:lnTo>
                  <a:pt x="0" y="218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6405049" y="-183107"/>
            <a:ext cx="2368161" cy="2423613"/>
          </a:xfrm>
          <a:custGeom>
            <a:avLst/>
            <a:gdLst/>
            <a:ahLst/>
            <a:cxnLst/>
            <a:rect r="r" b="b" t="t" l="l"/>
            <a:pathLst>
              <a:path h="2423613" w="2368161">
                <a:moveTo>
                  <a:pt x="0" y="0"/>
                </a:moveTo>
                <a:lnTo>
                  <a:pt x="2368160" y="0"/>
                </a:lnTo>
                <a:lnTo>
                  <a:pt x="2368160" y="2423614"/>
                </a:lnTo>
                <a:lnTo>
                  <a:pt x="0" y="2423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06471" y="3499223"/>
            <a:ext cx="10063983" cy="455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This project focuses on evaluating operator skill before allowing machine operation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Uses FSM (Finite State Machine) for structured control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Combines procedural validation and behavior analysis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Provides real-time feedback using LEDs</a:t>
            </a:r>
          </a:p>
          <a:p>
            <a:pPr algn="just">
              <a:lnSpc>
                <a:spcPts val="45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40507"/>
            <a:ext cx="11022635" cy="132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8000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Intr</a:t>
            </a:r>
            <a:r>
              <a:rPr lang="en-US" b="true" sz="8000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oduction / Abstract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9104" y="3672258"/>
            <a:ext cx="14234768" cy="34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Machines treat all operators equally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No verification of operator skill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Unsafe operations due to human errors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Need for adaptive safety systems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Solution: Behavior-based control system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4241" y="8765266"/>
            <a:ext cx="2134484" cy="2184465"/>
          </a:xfrm>
          <a:custGeom>
            <a:avLst/>
            <a:gdLst/>
            <a:ahLst/>
            <a:cxnLst/>
            <a:rect r="r" b="b" t="t" l="l"/>
            <a:pathLst>
              <a:path h="2184465" w="2134484">
                <a:moveTo>
                  <a:pt x="0" y="0"/>
                </a:moveTo>
                <a:lnTo>
                  <a:pt x="2134484" y="0"/>
                </a:lnTo>
                <a:lnTo>
                  <a:pt x="2134484" y="2184465"/>
                </a:lnTo>
                <a:lnTo>
                  <a:pt x="0" y="218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6405049" y="-183107"/>
            <a:ext cx="2368161" cy="2423613"/>
          </a:xfrm>
          <a:custGeom>
            <a:avLst/>
            <a:gdLst/>
            <a:ahLst/>
            <a:cxnLst/>
            <a:rect r="r" b="b" t="t" l="l"/>
            <a:pathLst>
              <a:path h="2423613" w="2368161">
                <a:moveTo>
                  <a:pt x="0" y="0"/>
                </a:moveTo>
                <a:lnTo>
                  <a:pt x="2368160" y="0"/>
                </a:lnTo>
                <a:lnTo>
                  <a:pt x="2368160" y="2423614"/>
                </a:lnTo>
                <a:lnTo>
                  <a:pt x="0" y="2423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93072" y="1194586"/>
            <a:ext cx="1701856" cy="806609"/>
          </a:xfrm>
          <a:custGeom>
            <a:avLst/>
            <a:gdLst/>
            <a:ahLst/>
            <a:cxnLst/>
            <a:rect r="r" b="b" t="t" l="l"/>
            <a:pathLst>
              <a:path h="806609" w="1701856">
                <a:moveTo>
                  <a:pt x="0" y="0"/>
                </a:moveTo>
                <a:lnTo>
                  <a:pt x="1701856" y="0"/>
                </a:lnTo>
                <a:lnTo>
                  <a:pt x="1701856" y="806609"/>
                </a:lnTo>
                <a:lnTo>
                  <a:pt x="0" y="806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1845" y="1678041"/>
            <a:ext cx="12224310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sz="65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Need / Motivation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6075220" y="-175487"/>
            <a:ext cx="2368161" cy="2423613"/>
          </a:xfrm>
          <a:custGeom>
            <a:avLst/>
            <a:gdLst/>
            <a:ahLst/>
            <a:cxnLst/>
            <a:rect r="r" b="b" t="t" l="l"/>
            <a:pathLst>
              <a:path h="2423613" w="2368161">
                <a:moveTo>
                  <a:pt x="0" y="0"/>
                </a:moveTo>
                <a:lnTo>
                  <a:pt x="2368160" y="0"/>
                </a:lnTo>
                <a:lnTo>
                  <a:pt x="2368160" y="2423614"/>
                </a:lnTo>
                <a:lnTo>
                  <a:pt x="0" y="2423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72825" y="1314828"/>
            <a:ext cx="1291155" cy="1192557"/>
          </a:xfrm>
          <a:custGeom>
            <a:avLst/>
            <a:gdLst/>
            <a:ahLst/>
            <a:cxnLst/>
            <a:rect r="r" b="b" t="t" l="l"/>
            <a:pathLst>
              <a:path h="1192557" w="1291155">
                <a:moveTo>
                  <a:pt x="0" y="0"/>
                </a:moveTo>
                <a:lnTo>
                  <a:pt x="1291154" y="0"/>
                </a:lnTo>
                <a:lnTo>
                  <a:pt x="1291154" y="1192558"/>
                </a:lnTo>
                <a:lnTo>
                  <a:pt x="0" y="1192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605444"/>
            <a:ext cx="2320031" cy="1681556"/>
          </a:xfrm>
          <a:custGeom>
            <a:avLst/>
            <a:gdLst/>
            <a:ahLst/>
            <a:cxnLst/>
            <a:rect r="r" b="b" t="t" l="l"/>
            <a:pathLst>
              <a:path h="1681556" w="2320031">
                <a:moveTo>
                  <a:pt x="0" y="0"/>
                </a:moveTo>
                <a:lnTo>
                  <a:pt x="2320031" y="0"/>
                </a:lnTo>
                <a:lnTo>
                  <a:pt x="2320031" y="1681556"/>
                </a:lnTo>
                <a:lnTo>
                  <a:pt x="0" y="1681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73981" y="1730132"/>
            <a:ext cx="974003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sz="65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9924" y="3771731"/>
            <a:ext cx="6714258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Lack of systems that: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- Validate correct procedure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- Analyze operator behavior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- Adapt system response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03818" y="3771731"/>
            <a:ext cx="6714258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Existing systems are: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- Either too simple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- Or too complex and expensive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23323" y="1638959"/>
            <a:ext cx="10787102" cy="1665297"/>
            <a:chOff x="0" y="0"/>
            <a:chExt cx="2841047" cy="438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1048" cy="438597"/>
            </a:xfrm>
            <a:custGeom>
              <a:avLst/>
              <a:gdLst/>
              <a:ahLst/>
              <a:cxnLst/>
              <a:rect r="r" b="b" t="t" l="l"/>
              <a:pathLst>
                <a:path h="438597" w="2841048">
                  <a:moveTo>
                    <a:pt x="36603" y="0"/>
                  </a:moveTo>
                  <a:lnTo>
                    <a:pt x="2804445" y="0"/>
                  </a:lnTo>
                  <a:cubicBezTo>
                    <a:pt x="2814152" y="0"/>
                    <a:pt x="2823463" y="3856"/>
                    <a:pt x="2830327" y="10721"/>
                  </a:cubicBezTo>
                  <a:cubicBezTo>
                    <a:pt x="2837191" y="17585"/>
                    <a:pt x="2841048" y="26895"/>
                    <a:pt x="2841048" y="36603"/>
                  </a:cubicBezTo>
                  <a:lnTo>
                    <a:pt x="2841048" y="401994"/>
                  </a:lnTo>
                  <a:cubicBezTo>
                    <a:pt x="2841048" y="422209"/>
                    <a:pt x="2824660" y="438597"/>
                    <a:pt x="2804445" y="438597"/>
                  </a:cubicBezTo>
                  <a:lnTo>
                    <a:pt x="36603" y="438597"/>
                  </a:lnTo>
                  <a:cubicBezTo>
                    <a:pt x="16388" y="438597"/>
                    <a:pt x="0" y="422209"/>
                    <a:pt x="0" y="401994"/>
                  </a:cubicBezTo>
                  <a:lnTo>
                    <a:pt x="0" y="36603"/>
                  </a:lnTo>
                  <a:cubicBezTo>
                    <a:pt x="0" y="16388"/>
                    <a:pt x="16388" y="0"/>
                    <a:pt x="36603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841047" cy="514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73981" y="1728619"/>
            <a:ext cx="974003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sz="6500" b="true">
                <a:solidFill>
                  <a:srgbClr val="F9F7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Sy</a:t>
            </a:r>
            <a:r>
              <a:rPr lang="en-US" b="true" sz="6500">
                <a:solidFill>
                  <a:srgbClr val="F9F7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stem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86871" y="3809081"/>
            <a:ext cx="6714258" cy="626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System has 3 parts: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1. Input: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• Push Buttons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• Potentiometer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2. Processing: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• Arduino + FSM logic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3. Output: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• LEDs (Status Indication)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252405" y="957656"/>
            <a:ext cx="2965953" cy="2033026"/>
          </a:xfrm>
          <a:custGeom>
            <a:avLst/>
            <a:gdLst/>
            <a:ahLst/>
            <a:cxnLst/>
            <a:rect r="r" b="b" t="t" l="l"/>
            <a:pathLst>
              <a:path h="2033026" w="2965953">
                <a:moveTo>
                  <a:pt x="0" y="0"/>
                </a:moveTo>
                <a:lnTo>
                  <a:pt x="2965953" y="0"/>
                </a:lnTo>
                <a:lnTo>
                  <a:pt x="2965953" y="2033025"/>
                </a:lnTo>
                <a:lnTo>
                  <a:pt x="0" y="203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605444"/>
            <a:ext cx="2320031" cy="1681556"/>
          </a:xfrm>
          <a:custGeom>
            <a:avLst/>
            <a:gdLst/>
            <a:ahLst/>
            <a:cxnLst/>
            <a:rect r="r" b="b" t="t" l="l"/>
            <a:pathLst>
              <a:path h="1681556" w="2320031">
                <a:moveTo>
                  <a:pt x="0" y="0"/>
                </a:moveTo>
                <a:lnTo>
                  <a:pt x="2320031" y="0"/>
                </a:lnTo>
                <a:lnTo>
                  <a:pt x="2320031" y="1681556"/>
                </a:lnTo>
                <a:lnTo>
                  <a:pt x="0" y="1681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27362" y="1028700"/>
            <a:ext cx="7243734" cy="7874767"/>
          </a:xfrm>
          <a:custGeom>
            <a:avLst/>
            <a:gdLst/>
            <a:ahLst/>
            <a:cxnLst/>
            <a:rect r="r" b="b" t="t" l="l"/>
            <a:pathLst>
              <a:path h="7874767" w="7243734">
                <a:moveTo>
                  <a:pt x="0" y="0"/>
                </a:moveTo>
                <a:lnTo>
                  <a:pt x="7243734" y="0"/>
                </a:lnTo>
                <a:lnTo>
                  <a:pt x="7243734" y="7874767"/>
                </a:lnTo>
                <a:lnTo>
                  <a:pt x="0" y="78747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47725"/>
            <a:ext cx="6277360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Block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6561" y="3562350"/>
            <a:ext cx="7739529" cy="569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tates used: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INIT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WAIT_SEQUENCE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SKILL_ACTIVE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ERROR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FSM ensures: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✔ Structured operation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✔ Predictable behavior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✔ Safety control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78505" y="8540522"/>
            <a:ext cx="2530132" cy="1734291"/>
          </a:xfrm>
          <a:custGeom>
            <a:avLst/>
            <a:gdLst/>
            <a:ahLst/>
            <a:cxnLst/>
            <a:rect r="r" b="b" t="t" l="l"/>
            <a:pathLst>
              <a:path h="1734291" w="2530132">
                <a:moveTo>
                  <a:pt x="0" y="0"/>
                </a:moveTo>
                <a:lnTo>
                  <a:pt x="2530132" y="0"/>
                </a:lnTo>
                <a:lnTo>
                  <a:pt x="2530132" y="1734291"/>
                </a:lnTo>
                <a:lnTo>
                  <a:pt x="0" y="1734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0124" y="4256631"/>
            <a:ext cx="9025000" cy="3372555"/>
          </a:xfrm>
          <a:custGeom>
            <a:avLst/>
            <a:gdLst/>
            <a:ahLst/>
            <a:cxnLst/>
            <a:rect r="r" b="b" t="t" l="l"/>
            <a:pathLst>
              <a:path h="3372555" w="9025000">
                <a:moveTo>
                  <a:pt x="0" y="0"/>
                </a:moveTo>
                <a:lnTo>
                  <a:pt x="9025000" y="0"/>
                </a:lnTo>
                <a:lnTo>
                  <a:pt x="9025000" y="3372555"/>
                </a:lnTo>
                <a:lnTo>
                  <a:pt x="0" y="3372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85376" y="847725"/>
            <a:ext cx="871724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sz="65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FSM</a:t>
            </a:r>
            <a:r>
              <a:rPr lang="en-US" b="true" sz="6500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Concept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1401" y="1920298"/>
            <a:ext cx="9008566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Working Principle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79104" y="622935"/>
            <a:ext cx="396975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72727"/>
                </a:solidFill>
                <a:latin typeface="Lato Bold"/>
                <a:ea typeface="Lato Bold"/>
                <a:cs typeface="Lato Bold"/>
                <a:sym typeface="Lato Bold"/>
              </a:rPr>
              <a:t>Universitas Borcelle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01401" y="3354763"/>
            <a:ext cx="13485198" cy="68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Step 1: Operator follows</a:t>
            </a: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button sequence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Step 2: System validates correctness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Step 3: Potentiometer input is analyzed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Step 4: Confidence level is calculated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Green → Skilled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Yellow → Intermediate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Red → Error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5944545" y="7943545"/>
            <a:ext cx="2717366" cy="1969544"/>
          </a:xfrm>
          <a:custGeom>
            <a:avLst/>
            <a:gdLst/>
            <a:ahLst/>
            <a:cxnLst/>
            <a:rect r="r" b="b" t="t" l="l"/>
            <a:pathLst>
              <a:path h="1969544" w="2717366">
                <a:moveTo>
                  <a:pt x="0" y="0"/>
                </a:moveTo>
                <a:lnTo>
                  <a:pt x="2717366" y="0"/>
                </a:lnTo>
                <a:lnTo>
                  <a:pt x="2717366" y="1969544"/>
                </a:lnTo>
                <a:lnTo>
                  <a:pt x="0" y="196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01401" y="1294664"/>
            <a:ext cx="1701856" cy="806609"/>
          </a:xfrm>
          <a:custGeom>
            <a:avLst/>
            <a:gdLst/>
            <a:ahLst/>
            <a:cxnLst/>
            <a:rect r="r" b="b" t="t" l="l"/>
            <a:pathLst>
              <a:path h="806609" w="1701856">
                <a:moveTo>
                  <a:pt x="0" y="0"/>
                </a:moveTo>
                <a:lnTo>
                  <a:pt x="1701856" y="0"/>
                </a:lnTo>
                <a:lnTo>
                  <a:pt x="1701856" y="806609"/>
                </a:lnTo>
                <a:lnTo>
                  <a:pt x="0" y="806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1401" y="1920298"/>
            <a:ext cx="9008566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Working Principle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79104" y="622935"/>
            <a:ext cx="396975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72727"/>
                </a:solidFill>
                <a:latin typeface="Lato Bold"/>
                <a:ea typeface="Lato Bold"/>
                <a:cs typeface="Lato Bold"/>
                <a:sym typeface="Lato Bold"/>
              </a:rPr>
              <a:t>Universitas Borcelle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01401" y="3354763"/>
            <a:ext cx="13485198" cy="68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Step 1: Operator follows</a:t>
            </a: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 button sequence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Step 2: System validates correctness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Step 3: Potentiometer input is analyzed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Step 4: Confidence level is calculated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Green → Skilled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Yellow → Intermediate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Red → Error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5944545" y="7943545"/>
            <a:ext cx="2717366" cy="1969544"/>
          </a:xfrm>
          <a:custGeom>
            <a:avLst/>
            <a:gdLst/>
            <a:ahLst/>
            <a:cxnLst/>
            <a:rect r="r" b="b" t="t" l="l"/>
            <a:pathLst>
              <a:path h="1969544" w="2717366">
                <a:moveTo>
                  <a:pt x="0" y="0"/>
                </a:moveTo>
                <a:lnTo>
                  <a:pt x="2717366" y="0"/>
                </a:lnTo>
                <a:lnTo>
                  <a:pt x="2717366" y="1969544"/>
                </a:lnTo>
                <a:lnTo>
                  <a:pt x="0" y="196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01401" y="1294664"/>
            <a:ext cx="1701856" cy="806609"/>
          </a:xfrm>
          <a:custGeom>
            <a:avLst/>
            <a:gdLst/>
            <a:ahLst/>
            <a:cxnLst/>
            <a:rect r="r" b="b" t="t" l="l"/>
            <a:pathLst>
              <a:path h="806609" w="1701856">
                <a:moveTo>
                  <a:pt x="0" y="0"/>
                </a:moveTo>
                <a:lnTo>
                  <a:pt x="1701856" y="0"/>
                </a:lnTo>
                <a:lnTo>
                  <a:pt x="1701856" y="806609"/>
                </a:lnTo>
                <a:lnTo>
                  <a:pt x="0" y="806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42389" y="974241"/>
            <a:ext cx="974003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sz="65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Simulat</a:t>
            </a:r>
            <a:r>
              <a:rPr lang="en-US" b="true" sz="6500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or Output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859850">
            <a:off x="10282895" y="523827"/>
            <a:ext cx="1701856" cy="806609"/>
          </a:xfrm>
          <a:custGeom>
            <a:avLst/>
            <a:gdLst/>
            <a:ahLst/>
            <a:cxnLst/>
            <a:rect r="r" b="b" t="t" l="l"/>
            <a:pathLst>
              <a:path h="806609" w="1701856">
                <a:moveTo>
                  <a:pt x="0" y="0"/>
                </a:moveTo>
                <a:lnTo>
                  <a:pt x="1701856" y="0"/>
                </a:lnTo>
                <a:lnTo>
                  <a:pt x="1701856" y="806609"/>
                </a:lnTo>
                <a:lnTo>
                  <a:pt x="0" y="80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353341"/>
            <a:ext cx="2368161" cy="2423613"/>
          </a:xfrm>
          <a:custGeom>
            <a:avLst/>
            <a:gdLst/>
            <a:ahLst/>
            <a:cxnLst/>
            <a:rect r="r" b="b" t="t" l="l"/>
            <a:pathLst>
              <a:path h="2423613" w="2368161">
                <a:moveTo>
                  <a:pt x="0" y="0"/>
                </a:moveTo>
                <a:lnTo>
                  <a:pt x="2368161" y="0"/>
                </a:lnTo>
                <a:lnTo>
                  <a:pt x="2368161" y="2423613"/>
                </a:lnTo>
                <a:lnTo>
                  <a:pt x="0" y="2423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747671" y="8746671"/>
            <a:ext cx="1786096" cy="1294561"/>
          </a:xfrm>
          <a:custGeom>
            <a:avLst/>
            <a:gdLst/>
            <a:ahLst/>
            <a:cxnLst/>
            <a:rect r="r" b="b" t="t" l="l"/>
            <a:pathLst>
              <a:path h="1294561" w="1786096">
                <a:moveTo>
                  <a:pt x="0" y="0"/>
                </a:moveTo>
                <a:lnTo>
                  <a:pt x="1786097" y="0"/>
                </a:lnTo>
                <a:lnTo>
                  <a:pt x="1786097" y="1294561"/>
                </a:lnTo>
                <a:lnTo>
                  <a:pt x="0" y="1294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73516" y="3145280"/>
            <a:ext cx="9260307" cy="5741390"/>
          </a:xfrm>
          <a:custGeom>
            <a:avLst/>
            <a:gdLst/>
            <a:ahLst/>
            <a:cxnLst/>
            <a:rect r="r" b="b" t="t" l="l"/>
            <a:pathLst>
              <a:path h="5741390" w="9260307">
                <a:moveTo>
                  <a:pt x="0" y="0"/>
                </a:moveTo>
                <a:lnTo>
                  <a:pt x="9260307" y="0"/>
                </a:lnTo>
                <a:lnTo>
                  <a:pt x="9260307" y="5741391"/>
                </a:lnTo>
                <a:lnTo>
                  <a:pt x="0" y="57413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77305" y="4263376"/>
            <a:ext cx="6714258" cy="34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Successful sequence → LEDs ON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Smooth input → Green LED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Jerky input → Yellow LED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272727"/>
                </a:solidFill>
                <a:latin typeface="Lato"/>
                <a:ea typeface="Lato"/>
                <a:cs typeface="Lato"/>
                <a:sym typeface="Lato"/>
              </a:rPr>
              <a:t>• Error → Red LED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9104" y="4232173"/>
            <a:ext cx="6753946" cy="4499956"/>
            <a:chOff x="0" y="0"/>
            <a:chExt cx="1778817" cy="1185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817" cy="1185174"/>
            </a:xfrm>
            <a:custGeom>
              <a:avLst/>
              <a:gdLst/>
              <a:ahLst/>
              <a:cxnLst/>
              <a:rect r="r" b="b" t="t" l="l"/>
              <a:pathLst>
                <a:path h="1185174" w="1778817">
                  <a:moveTo>
                    <a:pt x="0" y="0"/>
                  </a:moveTo>
                  <a:lnTo>
                    <a:pt x="1778817" y="0"/>
                  </a:lnTo>
                  <a:lnTo>
                    <a:pt x="1778817" y="1185174"/>
                  </a:lnTo>
                  <a:lnTo>
                    <a:pt x="0" y="1185174"/>
                  </a:ln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78817" cy="1232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73981" y="1728619"/>
            <a:ext cx="974003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sz="65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</a:t>
            </a:r>
            <a:r>
              <a:rPr lang="en-US" b="true" sz="6500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ecifications &amp; Results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75907" y="4232173"/>
            <a:ext cx="6722532" cy="4499956"/>
            <a:chOff x="0" y="0"/>
            <a:chExt cx="1770543" cy="11851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0543" cy="1185174"/>
            </a:xfrm>
            <a:custGeom>
              <a:avLst/>
              <a:gdLst/>
              <a:ahLst/>
              <a:cxnLst/>
              <a:rect r="r" b="b" t="t" l="l"/>
              <a:pathLst>
                <a:path h="1185174" w="1770543">
                  <a:moveTo>
                    <a:pt x="0" y="0"/>
                  </a:moveTo>
                  <a:lnTo>
                    <a:pt x="1770543" y="0"/>
                  </a:lnTo>
                  <a:lnTo>
                    <a:pt x="1770543" y="1185174"/>
                  </a:lnTo>
                  <a:lnTo>
                    <a:pt x="0" y="1185174"/>
                  </a:ln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70543" cy="1232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896069" y="4683492"/>
            <a:ext cx="4882209" cy="487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2862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Results:</a:t>
            </a:r>
          </a:p>
          <a:p>
            <a:pPr algn="l">
              <a:lnSpc>
                <a:spcPts val="4293"/>
              </a:lnSpc>
            </a:pPr>
            <a:r>
              <a:rPr lang="en-US" sz="2862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✔ Correct sequence detected</a:t>
            </a:r>
          </a:p>
          <a:p>
            <a:pPr algn="l">
              <a:lnSpc>
                <a:spcPts val="4293"/>
              </a:lnSpc>
            </a:pPr>
            <a:r>
              <a:rPr lang="en-US" sz="2862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✔ Behavior classified successfully</a:t>
            </a:r>
          </a:p>
          <a:p>
            <a:pPr algn="l">
              <a:lnSpc>
                <a:spcPts val="4293"/>
              </a:lnSpc>
            </a:pPr>
            <a:r>
              <a:rPr lang="en-US" sz="2862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✔ Panic detected accurately</a:t>
            </a:r>
          </a:p>
          <a:p>
            <a:pPr algn="l">
              <a:lnSpc>
                <a:spcPts val="4293"/>
              </a:lnSpc>
            </a:pPr>
            <a:r>
              <a:rPr lang="en-US" sz="2862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✔ System responds in real-time</a:t>
            </a:r>
          </a:p>
          <a:p>
            <a:pPr algn="l">
              <a:lnSpc>
                <a:spcPts val="4293"/>
              </a:lnSpc>
            </a:pPr>
          </a:p>
          <a:p>
            <a:pPr algn="l">
              <a:lnSpc>
                <a:spcPts val="4293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15570634" y="43928"/>
            <a:ext cx="2717366" cy="1969544"/>
          </a:xfrm>
          <a:custGeom>
            <a:avLst/>
            <a:gdLst/>
            <a:ahLst/>
            <a:cxnLst/>
            <a:rect r="r" b="b" t="t" l="l"/>
            <a:pathLst>
              <a:path h="1969544" w="2717366">
                <a:moveTo>
                  <a:pt x="0" y="0"/>
                </a:moveTo>
                <a:lnTo>
                  <a:pt x="2717366" y="0"/>
                </a:lnTo>
                <a:lnTo>
                  <a:pt x="2717366" y="1969544"/>
                </a:lnTo>
                <a:lnTo>
                  <a:pt x="0" y="196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45230">
            <a:off x="5993816" y="1506290"/>
            <a:ext cx="1701856" cy="806609"/>
          </a:xfrm>
          <a:custGeom>
            <a:avLst/>
            <a:gdLst/>
            <a:ahLst/>
            <a:cxnLst/>
            <a:rect r="r" b="b" t="t" l="l"/>
            <a:pathLst>
              <a:path h="806609" w="1701856">
                <a:moveTo>
                  <a:pt x="0" y="0"/>
                </a:moveTo>
                <a:lnTo>
                  <a:pt x="1701855" y="0"/>
                </a:lnTo>
                <a:lnTo>
                  <a:pt x="1701855" y="806608"/>
                </a:lnTo>
                <a:lnTo>
                  <a:pt x="0" y="806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8317456"/>
            <a:ext cx="2717366" cy="1969544"/>
          </a:xfrm>
          <a:custGeom>
            <a:avLst/>
            <a:gdLst/>
            <a:ahLst/>
            <a:cxnLst/>
            <a:rect r="r" b="b" t="t" l="l"/>
            <a:pathLst>
              <a:path h="1969544" w="2717366">
                <a:moveTo>
                  <a:pt x="0" y="0"/>
                </a:moveTo>
                <a:lnTo>
                  <a:pt x="2717366" y="0"/>
                </a:lnTo>
                <a:lnTo>
                  <a:pt x="2717366" y="1969544"/>
                </a:lnTo>
                <a:lnTo>
                  <a:pt x="0" y="1969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97454" y="4907506"/>
            <a:ext cx="5117245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Specifications: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Arduino Uno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3 Push Buttons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1 Potentiometer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6 LEDs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0243" y="2558385"/>
            <a:ext cx="14848178" cy="7006762"/>
            <a:chOff x="0" y="0"/>
            <a:chExt cx="3910631" cy="1845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10631" cy="1845402"/>
            </a:xfrm>
            <a:custGeom>
              <a:avLst/>
              <a:gdLst/>
              <a:ahLst/>
              <a:cxnLst/>
              <a:rect r="r" b="b" t="t" l="l"/>
              <a:pathLst>
                <a:path h="1845402" w="3910631">
                  <a:moveTo>
                    <a:pt x="0" y="0"/>
                  </a:moveTo>
                  <a:lnTo>
                    <a:pt x="3910631" y="0"/>
                  </a:lnTo>
                  <a:lnTo>
                    <a:pt x="3910631" y="1845402"/>
                  </a:lnTo>
                  <a:lnTo>
                    <a:pt x="0" y="1845402"/>
                  </a:ln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910631" cy="1893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91880" y="2716185"/>
            <a:ext cx="13024904" cy="684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Conclusion: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Syst</a:t>
            </a: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em successfully detects operator skill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FSM ensures structured and safe operation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Behavior-based evaluation improves safety</a:t>
            </a:r>
          </a:p>
          <a:p>
            <a:pPr algn="just">
              <a:lnSpc>
                <a:spcPts val="15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Future Scope:</a:t>
            </a:r>
          </a:p>
          <a:p>
            <a:pPr algn="just">
              <a:lnSpc>
                <a:spcPts val="4500"/>
              </a:lnSpc>
            </a:pP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Servo motor for safety gate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Motor speed control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Data logging system</a:t>
            </a:r>
          </a:p>
          <a:p>
            <a:pPr algn="just">
              <a:lnSpc>
                <a:spcPts val="4500"/>
              </a:lnSpc>
            </a:pPr>
            <a:r>
              <a:rPr lang="en-US" sz="3000">
                <a:solidFill>
                  <a:srgbClr val="F9F7F7"/>
                </a:solidFill>
                <a:latin typeface="Lato"/>
                <a:ea typeface="Lato"/>
                <a:cs typeface="Lato"/>
                <a:sym typeface="Lato"/>
              </a:rPr>
              <a:t>• AI-based behavior analysis</a:t>
            </a:r>
          </a:p>
          <a:p>
            <a:pPr algn="just">
              <a:lnSpc>
                <a:spcPts val="45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513101" y="840415"/>
            <a:ext cx="1126179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sz="6500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Concl</a:t>
            </a:r>
            <a:r>
              <a:rPr lang="en-US" b="true" sz="6500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usion &amp; Future Scope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59850">
            <a:off x="10201735" y="370187"/>
            <a:ext cx="1701856" cy="806609"/>
          </a:xfrm>
          <a:custGeom>
            <a:avLst/>
            <a:gdLst/>
            <a:ahLst/>
            <a:cxnLst/>
            <a:rect r="r" b="b" t="t" l="l"/>
            <a:pathLst>
              <a:path h="806609" w="1701856">
                <a:moveTo>
                  <a:pt x="0" y="0"/>
                </a:moveTo>
                <a:lnTo>
                  <a:pt x="1701856" y="0"/>
                </a:lnTo>
                <a:lnTo>
                  <a:pt x="1701856" y="806609"/>
                </a:lnTo>
                <a:lnTo>
                  <a:pt x="0" y="80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8353341"/>
            <a:ext cx="2368161" cy="2423613"/>
          </a:xfrm>
          <a:custGeom>
            <a:avLst/>
            <a:gdLst/>
            <a:ahLst/>
            <a:cxnLst/>
            <a:rect r="r" b="b" t="t" l="l"/>
            <a:pathLst>
              <a:path h="2423613" w="2368161">
                <a:moveTo>
                  <a:pt x="0" y="0"/>
                </a:moveTo>
                <a:lnTo>
                  <a:pt x="2368161" y="0"/>
                </a:lnTo>
                <a:lnTo>
                  <a:pt x="2368161" y="2423613"/>
                </a:lnTo>
                <a:lnTo>
                  <a:pt x="0" y="2423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747671" y="8746671"/>
            <a:ext cx="1786096" cy="1294561"/>
          </a:xfrm>
          <a:custGeom>
            <a:avLst/>
            <a:gdLst/>
            <a:ahLst/>
            <a:cxnLst/>
            <a:rect r="r" b="b" t="t" l="l"/>
            <a:pathLst>
              <a:path h="1294561" w="1786096">
                <a:moveTo>
                  <a:pt x="0" y="0"/>
                </a:moveTo>
                <a:lnTo>
                  <a:pt x="1786097" y="0"/>
                </a:lnTo>
                <a:lnTo>
                  <a:pt x="1786097" y="1294561"/>
                </a:lnTo>
                <a:lnTo>
                  <a:pt x="0" y="1294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0153" y="4601528"/>
            <a:ext cx="14347695" cy="124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14"/>
              </a:lnSpc>
            </a:pPr>
            <a:r>
              <a:rPr lang="en-US" sz="8499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</a:t>
            </a:r>
            <a:r>
              <a:rPr lang="en-US" sz="8499" b="true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DAHIOY-35iQ</dc:identifier>
  <dcterms:modified xsi:type="dcterms:W3CDTF">2011-08-01T06:04:30Z</dcterms:modified>
  <cp:revision>1</cp:revision>
  <dc:title>FSM-Based Operator Skill Detection and Adaptive Safety System</dc:title>
</cp:coreProperties>
</file>